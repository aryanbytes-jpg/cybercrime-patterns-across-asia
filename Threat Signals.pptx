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41046" autoAdjust="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yan\Downloads\Asia_Cybercrime_Synthetic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yan\Downloads\Asia_Cybercrime_Synthetic_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yan\Downloads\Asia_Cybercrime_Synthetic_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[Asia_Cybercrime_Synthetic_Dataset.xlsx]Sheet2!PivotTable15</c:name>
    <c:fmtId val="5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400">
                <a:solidFill>
                  <a:schemeClr val="tx1"/>
                </a:solidFill>
                <a:latin typeface="Berlin Sans FB Demi" panose="020E0802020502020306" pitchFamily="34" charset="0"/>
              </a:rPr>
              <a:t>Crime</a:t>
            </a:r>
            <a:r>
              <a:rPr lang="en-US" sz="2400" baseline="0">
                <a:solidFill>
                  <a:schemeClr val="tx1"/>
                </a:solidFill>
                <a:latin typeface="Berlin Sans FB Demi" panose="020E0802020502020306" pitchFamily="34" charset="0"/>
              </a:rPr>
              <a:t> Wise Cases</a:t>
            </a:r>
            <a:endParaRPr lang="en-US" sz="2400">
              <a:solidFill>
                <a:schemeClr val="tx1"/>
              </a:solidFill>
              <a:latin typeface="Berlin Sans FB Demi" panose="020E0802020502020306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7320984116258071E-2"/>
          <c:y val="7.7895891272657836E-2"/>
          <c:w val="0.92362349064758364"/>
          <c:h val="0.5435989375181639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Sheet2!$B$15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Sheet2!$A$16:$A$27</c:f>
              <c:strCache>
                <c:ptCount val="11"/>
                <c:pt idx="0">
                  <c:v>Online Extortion</c:v>
                </c:pt>
                <c:pt idx="1">
                  <c:v>Malware/Hacking</c:v>
                </c:pt>
                <c:pt idx="2">
                  <c:v>Data Breach</c:v>
                </c:pt>
                <c:pt idx="3">
                  <c:v>Sextortion</c:v>
                </c:pt>
                <c:pt idx="4">
                  <c:v>Cyberstalking/Harassment</c:v>
                </c:pt>
                <c:pt idx="5">
                  <c:v>Ransomware Attack</c:v>
                </c:pt>
                <c:pt idx="6">
                  <c:v>Social Media Impersonation</c:v>
                </c:pt>
                <c:pt idx="7">
                  <c:v>SIM Swap / OTP Fraud</c:v>
                </c:pt>
                <c:pt idx="8">
                  <c:v>Fake Investment/Job Scam</c:v>
                </c:pt>
                <c:pt idx="9">
                  <c:v>Identity Theft</c:v>
                </c:pt>
                <c:pt idx="10">
                  <c:v>Phishing</c:v>
                </c:pt>
              </c:strCache>
            </c:strRef>
          </c:cat>
          <c:val>
            <c:numRef>
              <c:f>Sheet2!$B$16:$B$27</c:f>
              <c:numCache>
                <c:formatCode>General</c:formatCode>
                <c:ptCount val="11"/>
                <c:pt idx="0">
                  <c:v>339</c:v>
                </c:pt>
                <c:pt idx="1">
                  <c:v>481</c:v>
                </c:pt>
                <c:pt idx="2">
                  <c:v>486</c:v>
                </c:pt>
                <c:pt idx="3">
                  <c:v>583</c:v>
                </c:pt>
                <c:pt idx="4">
                  <c:v>593</c:v>
                </c:pt>
                <c:pt idx="5">
                  <c:v>611</c:v>
                </c:pt>
                <c:pt idx="6">
                  <c:v>680</c:v>
                </c:pt>
                <c:pt idx="7">
                  <c:v>734</c:v>
                </c:pt>
                <c:pt idx="8">
                  <c:v>1080</c:v>
                </c:pt>
                <c:pt idx="9">
                  <c:v>1161</c:v>
                </c:pt>
                <c:pt idx="10">
                  <c:v>1671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F1-4CC5-A485-251739DAAE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70379696"/>
        <c:axId val="808518096"/>
        <c:axId val="0"/>
      </c:bar3DChart>
      <c:catAx>
        <c:axId val="1870379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Berlin Sans FB Demi" panose="020E0802020502020306" pitchFamily="34" charset="0"/>
                <a:ea typeface="+mn-ea"/>
                <a:cs typeface="+mn-cs"/>
              </a:defRPr>
            </a:pPr>
            <a:endParaRPr lang="en-US"/>
          </a:p>
        </c:txPr>
        <c:crossAx val="808518096"/>
        <c:crosses val="autoZero"/>
        <c:auto val="1"/>
        <c:lblAlgn val="ctr"/>
        <c:lblOffset val="100"/>
        <c:noMultiLvlLbl val="0"/>
      </c:catAx>
      <c:valAx>
        <c:axId val="8085180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Berlin Sans FB Demi" panose="020E0802020502020306" pitchFamily="34" charset="0"/>
                <a:ea typeface="+mn-ea"/>
                <a:cs typeface="+mn-cs"/>
              </a:defRPr>
            </a:pPr>
            <a:endParaRPr lang="en-US"/>
          </a:p>
        </c:txPr>
        <c:crossAx val="1870379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b="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[Asia_Cybercrime_Synthetic_Dataset.xlsx]Sheet2!PivotTable17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0" dirty="0">
                <a:solidFill>
                  <a:schemeClr val="tx1"/>
                </a:solidFill>
                <a:latin typeface="Berlin Sans FB" panose="020E0602020502020306" pitchFamily="34" charset="0"/>
              </a:rPr>
              <a:t>Device Used</a:t>
            </a:r>
          </a:p>
        </c:rich>
      </c:tx>
      <c:layout>
        <c:manualLayout>
          <c:xMode val="edge"/>
          <c:yMode val="edge"/>
          <c:x val="0.28737243255724376"/>
          <c:y val="4.62962962962962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Sheet2!$B$46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831-49DD-B0A5-96DB13CE0C9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831-49DD-B0A5-96DB13CE0C9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2831-49DD-B0A5-96DB13CE0C9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2831-49DD-B0A5-96DB13CE0C94}"/>
              </c:ext>
            </c:extLst>
          </c:dPt>
          <c:cat>
            <c:strRef>
              <c:f>Sheet2!$A$47:$A$51</c:f>
              <c:strCache>
                <c:ptCount val="4"/>
                <c:pt idx="0">
                  <c:v>Smartphone</c:v>
                </c:pt>
                <c:pt idx="1">
                  <c:v>Laptop</c:v>
                </c:pt>
                <c:pt idx="2">
                  <c:v>Desktop PC</c:v>
                </c:pt>
                <c:pt idx="3">
                  <c:v>Tablet</c:v>
                </c:pt>
              </c:strCache>
            </c:strRef>
          </c:cat>
          <c:val>
            <c:numRef>
              <c:f>Sheet2!$B$47:$B$51</c:f>
              <c:numCache>
                <c:formatCode>General</c:formatCode>
                <c:ptCount val="4"/>
                <c:pt idx="0">
                  <c:v>6583</c:v>
                </c:pt>
                <c:pt idx="1">
                  <c:v>3017</c:v>
                </c:pt>
                <c:pt idx="2">
                  <c:v>1420</c:v>
                </c:pt>
                <c:pt idx="3">
                  <c:v>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31-49DD-B0A5-96DB13CE0C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617600396681415"/>
          <c:y val="0.33676983085447648"/>
          <c:w val="0.20639138026616385"/>
          <c:h val="0.312502187226596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erlin Sans FB" panose="020E0602020502020306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[Asia_Cybercrime_Synthetic_Dataset.xlsx]Sheet2!PivotTable19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400">
                <a:solidFill>
                  <a:schemeClr val="tx1"/>
                </a:solidFill>
                <a:latin typeface="Berlin Sans FB Demi" panose="020E0802020502020306" pitchFamily="34" charset="0"/>
              </a:rPr>
              <a:t>Year Wise Cases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Berlin Sans FB Demi" panose="020E0802020502020306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2.1011318897637795E-2"/>
              <c:y val="3.342341350142351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Berlin Sans FB Demi" panose="020E0802020502020306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8.0208333333334613E-3"/>
              <c:y val="3.9959415033009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Berlin Sans FB Demi" panose="020E0802020502020306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Berlin Sans FB Demi" panose="020E0802020502020306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2.1011318897637795E-2"/>
              <c:y val="3.342341350142351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Berlin Sans FB Demi" panose="020E0802020502020306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8.0208333333334613E-3"/>
              <c:y val="3.9959415033009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Berlin Sans FB Demi" panose="020E0802020502020306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Berlin Sans FB Demi" panose="020E0802020502020306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2.1011318897637795E-2"/>
              <c:y val="3.342341350142351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Berlin Sans FB Demi" panose="020E0802020502020306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layout>
            <c:manualLayout>
              <c:x val="-8.0208333333334613E-3"/>
              <c:y val="3.9959415033009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Berlin Sans FB Demi" panose="020E0802020502020306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Sheet2!$B$77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2.1011318897637795E-2"/>
                  <c:y val="3.342341350142351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D5-43D1-BCD3-57F505C7D60D}"/>
                </c:ext>
              </c:extLst>
            </c:dLbl>
            <c:dLbl>
              <c:idx val="3"/>
              <c:layout>
                <c:manualLayout>
                  <c:x val="-8.0208333333334613E-3"/>
                  <c:y val="3.99594150330093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D5-43D1-BCD3-57F505C7D6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Berlin Sans FB Demi" panose="020E0802020502020306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Sheet2!$A$78:$A$82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Sheet2!$B$78:$B$82</c:f>
              <c:numCache>
                <c:formatCode>General</c:formatCode>
                <c:ptCount val="4"/>
                <c:pt idx="0">
                  <c:v>2956</c:v>
                </c:pt>
                <c:pt idx="1">
                  <c:v>2960</c:v>
                </c:pt>
                <c:pt idx="2">
                  <c:v>3025</c:v>
                </c:pt>
                <c:pt idx="3">
                  <c:v>3059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ED5-43D1-BCD3-57F505C7D60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12862448"/>
        <c:axId val="808567536"/>
      </c:lineChart>
      <c:catAx>
        <c:axId val="1812862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Berlin Sans FB Demi" panose="020E0802020502020306" pitchFamily="34" charset="0"/>
                <a:ea typeface="+mn-ea"/>
                <a:cs typeface="+mn-cs"/>
              </a:defRPr>
            </a:pPr>
            <a:endParaRPr lang="en-US"/>
          </a:p>
        </c:txPr>
        <c:crossAx val="808567536"/>
        <c:crosses val="autoZero"/>
        <c:auto val="1"/>
        <c:lblAlgn val="ctr"/>
        <c:lblOffset val="100"/>
        <c:noMultiLvlLbl val="0"/>
      </c:catAx>
      <c:valAx>
        <c:axId val="808567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Berlin Sans FB Demi" panose="020E0802020502020306" pitchFamily="34" charset="0"/>
                <a:ea typeface="+mn-ea"/>
                <a:cs typeface="+mn-cs"/>
              </a:defRPr>
            </a:pPr>
            <a:endParaRPr lang="en-US"/>
          </a:p>
        </c:txPr>
        <c:crossAx val="1812862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56DC4-E545-4C97-A433-EB15DF24E11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4948A-590F-4CEA-BDE1-863C36487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144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Srtjsrgtmnsa</a:t>
            </a:r>
            <a:r>
              <a:rPr lang="en-IN" dirty="0"/>
              <a:t> w45yaer5yh 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4948A-590F-4CEA-BDE1-863C364878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424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6687-88D4-A5A3-106E-DF87B90C9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D6F78-1FA7-C616-7B20-22DD50F45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6FF38-5B95-8E08-E5FC-0D850A36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BF5A8-07ED-E318-EE60-60B53F631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7C68D-B3D2-2FD6-3631-CA2BC498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60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6670-C98C-F5AB-11F0-3E6A2066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9C024-656A-EB93-4C64-E1A3A200A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09AB2-6119-62E2-09B9-3BF282D9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C3354-705C-650B-D954-6D2E076D5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5DC7A-F287-6775-0894-AB09D337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3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1317-8AD0-13EF-9BF1-03EFE45C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7C800-7F4D-F912-1EAD-E218BA7DC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AE2E9-FB8B-7755-D593-86C86F55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7215B-9F31-B3B8-2CE9-A3A6E3D3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2DE3D-4784-6017-2557-A9D524B3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43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16BB-4CFB-2235-A0DB-E5F0FDFA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30715-F70B-BDF9-ED46-2AFFFB0C8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D2EE3-AE56-95EC-18D8-89B6726CB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E509D-7018-25C1-E140-D76CDC8F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109E1-C9DD-530F-3369-7084EF5D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BB899-69F4-36E7-A790-C518E5ED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271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342E-B2EE-F638-E0A0-64E4C49C3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5C7D4-876E-1866-D68E-75BDB48D3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B660A-0647-A44E-CB02-D2FC43A94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643C8-997B-E89C-1516-92A45BCF5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CC6791-99B2-762B-4CEF-C246B15D7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B62019-99C5-61D0-283B-5A886D7E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81D97-40B6-6B8E-3A45-6902EADB2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84CC5-86EE-BD24-B21B-1D100A44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91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423D-F00F-D9DB-3455-DF3405BC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68051-3A3C-99E8-E61A-627896C0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B8B3F-79CB-CC69-E655-B1A8D31C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D8D40-3852-8373-5A69-F8F55FEC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04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FC06A4-D65C-AF33-F59A-C12C0A78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DE59-D932-032B-C165-361CB8AC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99179-763D-9527-B776-24831C28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10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63FA3-FFD1-7B6C-5033-0AD6AC415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BDCA4-3313-B095-6A98-A259430E7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C3C63-042F-2598-55A0-964BC49DF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C0D05-5271-1566-A100-F133BDED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06DF3-2D47-2898-11CA-8369ED786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E523-CD93-8F66-1BDD-1F8201A5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2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C52A-DF12-4BC6-871F-2DDC94C4D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272F6-183B-AF7F-B444-5EF628714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3F7A-46F5-2BB9-DDDD-6AEB5ACE9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FAE57-7895-8E9B-1D06-236D6D0B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54C9A-74C7-AB48-6903-47BC3D74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9028A-D9F9-3989-03C8-4FD0E0D7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46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205D-D08E-7A94-7BA0-4FDEE8952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F87DE-2C6A-375D-D163-4049CB2EB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A9D19-50CA-9B06-2E5E-DD9A4605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CD4EB-12A5-1879-B632-80F5454D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69944-2C5C-2417-9F78-053FCEC1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22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4027BF-CA53-92DD-B5DF-A47BD6603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A9AD7-3E7B-BEE2-563F-78422067B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0F381-2E31-606A-043E-8724B1A65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25D4B-0A1C-0EA3-7A31-D4564DA7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5CA8C-E99A-58EA-19EF-E21F7EA6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825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74F97-2D38-3F31-DBA5-9872412F0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54250-F0D0-A928-50E3-CA7AC048B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65CEA-089B-2BA5-FAF2-0C0385005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F3439-D3D1-4A0C-826D-76B1169039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2C28C-197B-A5D4-83FD-3D5DB1ED9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589E0-3FE6-7D80-711D-F0C99EDFC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AA055-1F95-499F-A7C2-2203FA0F3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10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A247-E286-6C52-0E6D-097EAF1C0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6" y="1041399"/>
            <a:ext cx="11680723" cy="2508045"/>
          </a:xfrm>
        </p:spPr>
        <p:txBody>
          <a:bodyPr>
            <a:normAutofit/>
          </a:bodyPr>
          <a:lstStyle/>
          <a:p>
            <a:r>
              <a:rPr lang="en-IN" dirty="0">
                <a:latin typeface="Berlin Sans FB" panose="020E0602020502020306" pitchFamily="34" charset="0"/>
              </a:rPr>
              <a:t>Threat Signals: Cybercrime Patterns Across Asia (2021-24)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52D39-3E01-BF5D-EDF6-D84D49B3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9961"/>
            <a:ext cx="9144000" cy="1655762"/>
          </a:xfrm>
        </p:spPr>
        <p:txBody>
          <a:bodyPr/>
          <a:lstStyle/>
          <a:p>
            <a:r>
              <a:rPr lang="en-IN" dirty="0">
                <a:latin typeface="Berlin Sans FB" panose="020E0602020502020306" pitchFamily="34" charset="0"/>
              </a:rPr>
              <a:t>Name : Aryan Padumale</a:t>
            </a:r>
          </a:p>
          <a:p>
            <a:r>
              <a:rPr lang="en-IN" dirty="0">
                <a:latin typeface="Berlin Sans FB" panose="020E0602020502020306" pitchFamily="34" charset="0"/>
              </a:rPr>
              <a:t>Student ID: AF05309804</a:t>
            </a:r>
          </a:p>
        </p:txBody>
      </p:sp>
    </p:spTree>
    <p:extLst>
      <p:ext uri="{BB962C8B-B14F-4D97-AF65-F5344CB8AC3E}">
        <p14:creationId xmlns:p14="http://schemas.microsoft.com/office/powerpoint/2010/main" val="113644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9B20068-8B7C-01CB-E17D-E290F2D26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84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ACF5E4-64AF-166F-1B14-B2B091FD90D0}"/>
              </a:ext>
            </a:extLst>
          </p:cNvPr>
          <p:cNvSpPr txBox="1"/>
          <p:nvPr/>
        </p:nvSpPr>
        <p:spPr>
          <a:xfrm>
            <a:off x="3647768" y="206477"/>
            <a:ext cx="42498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Berlin Sans FB" panose="020E0602020502020306" pitchFamily="34" charset="0"/>
              </a:rPr>
              <a:t>Project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4A64B-44B8-98E7-934A-472F95E9F616}"/>
              </a:ext>
            </a:extLst>
          </p:cNvPr>
          <p:cNvSpPr txBox="1"/>
          <p:nvPr/>
        </p:nvSpPr>
        <p:spPr>
          <a:xfrm>
            <a:off x="283446" y="2077822"/>
            <a:ext cx="239520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Berlin Sans FB" panose="020E0602020502020306" pitchFamily="34" charset="0"/>
              </a:rPr>
              <a:t>       </a:t>
            </a:r>
            <a:r>
              <a:rPr lang="en-IN" sz="2800" dirty="0">
                <a:latin typeface="Berlin Sans FB" panose="020E0602020502020306" pitchFamily="34" charset="0"/>
              </a:rPr>
              <a:t> </a:t>
            </a:r>
            <a:r>
              <a:rPr lang="en-IN" sz="3200" dirty="0">
                <a:latin typeface="Berlin Sans FB" panose="020E0602020502020306" pitchFamily="34" charset="0"/>
              </a:rPr>
              <a:t>📚</a:t>
            </a:r>
          </a:p>
          <a:p>
            <a:r>
              <a:rPr lang="en-IN" sz="3200" dirty="0">
                <a:latin typeface="Berlin Sans FB" panose="020E0602020502020306" pitchFamily="34" charset="0"/>
              </a:rPr>
              <a:t>Raw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8129C-5E3A-2758-347D-138A02CF5175}"/>
              </a:ext>
            </a:extLst>
          </p:cNvPr>
          <p:cNvSpPr txBox="1"/>
          <p:nvPr/>
        </p:nvSpPr>
        <p:spPr>
          <a:xfrm>
            <a:off x="3683545" y="2046703"/>
            <a:ext cx="26532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Berlin Sans FB" panose="020E0602020502020306" pitchFamily="34" charset="0"/>
              </a:rPr>
              <a:t>         ⚒️</a:t>
            </a:r>
          </a:p>
          <a:p>
            <a:r>
              <a:rPr lang="en-IN" sz="3200" dirty="0">
                <a:latin typeface="Berlin Sans FB" panose="020E0602020502020306" pitchFamily="34" charset="0"/>
              </a:rPr>
              <a:t>Data Cleaning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C1F62A-1A2A-3EA5-725B-2728A317FDFF}"/>
              </a:ext>
            </a:extLst>
          </p:cNvPr>
          <p:cNvSpPr txBox="1"/>
          <p:nvPr/>
        </p:nvSpPr>
        <p:spPr>
          <a:xfrm>
            <a:off x="7311315" y="2008610"/>
            <a:ext cx="323037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Berlin Sans FB" panose="020E0602020502020306" pitchFamily="34" charset="0"/>
              </a:rPr>
              <a:t>          📰</a:t>
            </a:r>
          </a:p>
          <a:p>
            <a:r>
              <a:rPr lang="en-IN" sz="3200" dirty="0">
                <a:latin typeface="Berlin Sans FB" panose="020E0602020502020306" pitchFamily="34" charset="0"/>
              </a:rPr>
              <a:t>Data Preparation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A3E2D3-B27A-67E0-3419-BA70D1A0061A}"/>
              </a:ext>
            </a:extLst>
          </p:cNvPr>
          <p:cNvSpPr txBox="1"/>
          <p:nvPr/>
        </p:nvSpPr>
        <p:spPr>
          <a:xfrm>
            <a:off x="7897648" y="4118521"/>
            <a:ext cx="22685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Berlin Sans FB" panose="020E0602020502020306" pitchFamily="34" charset="0"/>
              </a:rPr>
              <a:t>        📑</a:t>
            </a:r>
          </a:p>
          <a:p>
            <a:r>
              <a:rPr lang="en-IN" sz="3200" dirty="0">
                <a:latin typeface="Berlin Sans FB" panose="020E0602020502020306" pitchFamily="34" charset="0"/>
              </a:rPr>
              <a:t>Pivot Tables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D00856-EF32-9571-EA51-296CF15FFEAB}"/>
              </a:ext>
            </a:extLst>
          </p:cNvPr>
          <p:cNvSpPr txBox="1"/>
          <p:nvPr/>
        </p:nvSpPr>
        <p:spPr>
          <a:xfrm>
            <a:off x="5887300" y="4118521"/>
            <a:ext cx="126989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Berlin Sans FB" panose="020E0602020502020306" pitchFamily="34" charset="0"/>
              </a:rPr>
              <a:t>  📜</a:t>
            </a:r>
          </a:p>
          <a:p>
            <a:r>
              <a:rPr lang="en-IN" sz="3200" dirty="0">
                <a:latin typeface="Berlin Sans FB" panose="020E0602020502020306" pitchFamily="34" charset="0"/>
              </a:rPr>
              <a:t>Charts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621E7D-0A9F-EFF1-F0F5-0B42D2AA1EC9}"/>
              </a:ext>
            </a:extLst>
          </p:cNvPr>
          <p:cNvSpPr txBox="1"/>
          <p:nvPr/>
        </p:nvSpPr>
        <p:spPr>
          <a:xfrm>
            <a:off x="3089878" y="4118521"/>
            <a:ext cx="20569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Berlin Sans FB" panose="020E0602020502020306" pitchFamily="34" charset="0"/>
              </a:rPr>
              <a:t>       🖥️</a:t>
            </a:r>
          </a:p>
          <a:p>
            <a:r>
              <a:rPr lang="en-IN" sz="3200" dirty="0">
                <a:latin typeface="Berlin Sans FB" panose="020E0602020502020306" pitchFamily="34" charset="0"/>
              </a:rPr>
              <a:t>Dashboard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E3BC11-B20B-9803-810D-DB37C304F408}"/>
              </a:ext>
            </a:extLst>
          </p:cNvPr>
          <p:cNvSpPr txBox="1"/>
          <p:nvPr/>
        </p:nvSpPr>
        <p:spPr>
          <a:xfrm>
            <a:off x="832925" y="4173232"/>
            <a:ext cx="1401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Berlin Sans FB" panose="020E0602020502020306" pitchFamily="34" charset="0"/>
              </a:rPr>
              <a:t>   💡</a:t>
            </a:r>
          </a:p>
          <a:p>
            <a:r>
              <a:rPr lang="en-IN" sz="3200" dirty="0">
                <a:latin typeface="Berlin Sans FB" panose="020E0602020502020306" pitchFamily="34" charset="0"/>
              </a:rPr>
              <a:t>Insights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F52865A-D67E-9990-6A38-3E9B1B49FB51}"/>
              </a:ext>
            </a:extLst>
          </p:cNvPr>
          <p:cNvSpPr/>
          <p:nvPr/>
        </p:nvSpPr>
        <p:spPr>
          <a:xfrm>
            <a:off x="2918203" y="2213236"/>
            <a:ext cx="375603" cy="26449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8D046BD-C172-C1FD-28E0-D23E6ACBD63E}"/>
              </a:ext>
            </a:extLst>
          </p:cNvPr>
          <p:cNvSpPr/>
          <p:nvPr/>
        </p:nvSpPr>
        <p:spPr>
          <a:xfrm>
            <a:off x="6589275" y="2213236"/>
            <a:ext cx="469599" cy="28769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9242F900-EA7C-2A2D-EF5A-E25213254C00}"/>
              </a:ext>
            </a:extLst>
          </p:cNvPr>
          <p:cNvSpPr/>
          <p:nvPr/>
        </p:nvSpPr>
        <p:spPr>
          <a:xfrm>
            <a:off x="8926501" y="3243498"/>
            <a:ext cx="295190" cy="429193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79DE4D92-C4AB-31B7-1EF1-8AAD9B76CE58}"/>
              </a:ext>
            </a:extLst>
          </p:cNvPr>
          <p:cNvSpPr/>
          <p:nvPr/>
        </p:nvSpPr>
        <p:spPr>
          <a:xfrm>
            <a:off x="7334282" y="4430987"/>
            <a:ext cx="386283" cy="310278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16FC418C-81C3-1E2A-BA44-4161D6B8A24A}"/>
              </a:ext>
            </a:extLst>
          </p:cNvPr>
          <p:cNvSpPr/>
          <p:nvPr/>
        </p:nvSpPr>
        <p:spPr>
          <a:xfrm>
            <a:off x="5146851" y="4413513"/>
            <a:ext cx="465208" cy="298328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Left 30">
            <a:extLst>
              <a:ext uri="{FF2B5EF4-FFF2-40B4-BE49-F238E27FC236}">
                <a16:creationId xmlns:a16="http://schemas.microsoft.com/office/drawing/2014/main" id="{0B607E17-8D99-2175-ED1A-E9A09FFE6909}"/>
              </a:ext>
            </a:extLst>
          </p:cNvPr>
          <p:cNvSpPr/>
          <p:nvPr/>
        </p:nvSpPr>
        <p:spPr>
          <a:xfrm>
            <a:off x="2425308" y="4379101"/>
            <a:ext cx="494697" cy="264493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97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07095-A98A-15D3-FA1C-7B6D6D333A58}"/>
              </a:ext>
            </a:extLst>
          </p:cNvPr>
          <p:cNvSpPr txBox="1"/>
          <p:nvPr/>
        </p:nvSpPr>
        <p:spPr>
          <a:xfrm>
            <a:off x="3678466" y="216309"/>
            <a:ext cx="338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latin typeface="Berlin Sans FB" panose="020E0602020502020306" pitchFamily="34" charset="0"/>
              </a:rPr>
              <a:t>Key Findings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5400CA-9278-100D-D722-05DF5FC14023}"/>
              </a:ext>
            </a:extLst>
          </p:cNvPr>
          <p:cNvSpPr/>
          <p:nvPr/>
        </p:nvSpPr>
        <p:spPr>
          <a:xfrm>
            <a:off x="1060679" y="1439196"/>
            <a:ext cx="2318657" cy="150618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5ABA8EC-4AAD-43B1-B947-9B25208A7D6B}" type="TxLink">
              <a:rPr lang="en-US" sz="2000" b="0" i="0" u="none" strike="noStrike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pPr algn="ctr"/>
              <a:t>12000</a:t>
            </a:fld>
            <a:endParaRPr lang="en-US" sz="2000" b="0" i="0" u="none" strike="noStrike" dirty="0">
              <a:solidFill>
                <a:schemeClr val="bg2"/>
              </a:solidFill>
              <a:latin typeface="Berlin Sans FB Demi" panose="020E0802020502020306" pitchFamily="34" charset="0"/>
              <a:ea typeface="Calibri"/>
              <a:cs typeface="Calibri"/>
            </a:endParaRPr>
          </a:p>
          <a:p>
            <a:pPr algn="ctr"/>
            <a:r>
              <a:rPr lang="en-IN" sz="2000" b="0" i="0" u="none" strike="noStrike" dirty="0">
                <a:solidFill>
                  <a:schemeClr val="bg2"/>
                </a:solidFill>
                <a:latin typeface="Berlin Sans FB Demi" panose="020E0802020502020306" pitchFamily="34" charset="0"/>
                <a:ea typeface="+mn-ea"/>
                <a:cs typeface="+mn-cs"/>
              </a:rPr>
              <a:t>TOTAL</a:t>
            </a:r>
            <a:r>
              <a:rPr lang="en-IN" sz="2000" b="0" i="0" u="none" strike="noStrike" baseline="0" dirty="0">
                <a:solidFill>
                  <a:schemeClr val="bg2"/>
                </a:solidFill>
                <a:latin typeface="Berlin Sans FB Demi" panose="020E0802020502020306" pitchFamily="34" charset="0"/>
                <a:ea typeface="+mn-ea"/>
                <a:cs typeface="+mn-cs"/>
              </a:rPr>
              <a:t> CASES</a:t>
            </a:r>
            <a:endParaRPr lang="en-US" sz="2000" b="0" i="0" u="none" strike="noStrike" dirty="0">
              <a:solidFill>
                <a:schemeClr val="bg2"/>
              </a:solidFill>
              <a:latin typeface="Berlin Sans FB Demi" panose="020E0802020502020306" pitchFamily="34" charset="0"/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81DF3F-76E6-4EF6-A0F7-88BC03D5225D}"/>
              </a:ext>
            </a:extLst>
          </p:cNvPr>
          <p:cNvSpPr/>
          <p:nvPr/>
        </p:nvSpPr>
        <p:spPr>
          <a:xfrm>
            <a:off x="4340879" y="1490590"/>
            <a:ext cx="2296885" cy="152301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054A4A8-D52A-4026-8D14-5AABB0CF4D56}" type="TxLink">
              <a:rPr lang="en-US" sz="2000" b="0" i="0" u="none" strike="noStrike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pPr algn="ctr"/>
              <a:t>50</a:t>
            </a:fld>
            <a:endParaRPr lang="en-US" sz="2000" b="0" i="0" u="none" strike="noStrike" dirty="0">
              <a:solidFill>
                <a:schemeClr val="bg2"/>
              </a:solidFill>
              <a:latin typeface="Berlin Sans FB Demi" panose="020E0802020502020306" pitchFamily="34" charset="0"/>
              <a:ea typeface="Calibri"/>
              <a:cs typeface="Calibri"/>
            </a:endParaRPr>
          </a:p>
          <a:p>
            <a:pPr algn="ctr"/>
            <a:r>
              <a:rPr lang="en-US" sz="2000" b="0" i="0" u="none" strike="noStrike" dirty="0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t>TOTAL</a:t>
            </a:r>
            <a:r>
              <a:rPr lang="en-US" sz="2000" b="0" i="0" u="none" strike="noStrike" baseline="0" dirty="0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t> COUNTRIES</a:t>
            </a:r>
            <a:endParaRPr lang="en-US" sz="2000" dirty="0">
              <a:solidFill>
                <a:schemeClr val="bg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72B625-F331-40F6-9175-41C1056FB802}"/>
              </a:ext>
            </a:extLst>
          </p:cNvPr>
          <p:cNvSpPr/>
          <p:nvPr/>
        </p:nvSpPr>
        <p:spPr>
          <a:xfrm>
            <a:off x="7599307" y="1490590"/>
            <a:ext cx="2286000" cy="157743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ED0A440-F8EB-48DB-8996-4523C8EBA49E}" type="TxLink">
              <a:rPr lang="en-US" sz="2000" b="0" i="0" u="none" strike="noStrike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pPr algn="ctr"/>
              <a:t>13792261</a:t>
            </a:fld>
            <a:endParaRPr lang="en-US" sz="2000" b="0" i="0" u="none" strike="noStrike" dirty="0">
              <a:solidFill>
                <a:schemeClr val="bg2"/>
              </a:solidFill>
              <a:latin typeface="Berlin Sans FB Demi" panose="020E0802020502020306" pitchFamily="34" charset="0"/>
              <a:ea typeface="Calibri"/>
              <a:cs typeface="Calibri"/>
            </a:endParaRPr>
          </a:p>
          <a:p>
            <a:pPr algn="ctr"/>
            <a:r>
              <a:rPr lang="en-US" sz="2000" b="0" i="0" u="none" strike="noStrike" dirty="0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t>FINANCIAL</a:t>
            </a:r>
            <a:r>
              <a:rPr lang="en-US" sz="2000" b="0" i="0" u="none" strike="noStrike" baseline="0" dirty="0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t> LOSS</a:t>
            </a:r>
            <a:endParaRPr lang="en-IN" sz="2000" dirty="0">
              <a:solidFill>
                <a:schemeClr val="bg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018AE9-2E6E-45B2-BFE6-AD782714A2EB}"/>
              </a:ext>
            </a:extLst>
          </p:cNvPr>
          <p:cNvSpPr/>
          <p:nvPr/>
        </p:nvSpPr>
        <p:spPr>
          <a:xfrm>
            <a:off x="1071567" y="3657310"/>
            <a:ext cx="2307769" cy="151707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BEB9B1A-4E86-455A-9C5E-4E5B2AC5C57A}" type="TxLink">
              <a:rPr lang="en-US" sz="2000" b="0" i="0" u="none" strike="noStrike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pPr algn="ctr"/>
              <a:t>1149</a:t>
            </a:fld>
            <a:endParaRPr lang="en-US" sz="2000" b="0" i="0" u="none" strike="noStrike">
              <a:solidFill>
                <a:schemeClr val="bg2"/>
              </a:solidFill>
              <a:latin typeface="Berlin Sans FB Demi" panose="020E0802020502020306" pitchFamily="34" charset="0"/>
              <a:ea typeface="Calibri"/>
              <a:cs typeface="Calibri"/>
            </a:endParaRPr>
          </a:p>
          <a:p>
            <a:pPr algn="ctr"/>
            <a:r>
              <a:rPr lang="en-US" sz="2000" b="0" i="0" u="none" strike="noStrike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t>AVERAGR</a:t>
            </a:r>
            <a:r>
              <a:rPr lang="en-US" sz="2000" b="0" i="0" u="none" strike="noStrike" baseline="0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t> LOSS PER CASE</a:t>
            </a:r>
            <a:endParaRPr lang="en-IN" sz="2000">
              <a:solidFill>
                <a:schemeClr val="bg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6424B83-28B5-4A7B-98B0-43D46F4E9904}"/>
              </a:ext>
            </a:extLst>
          </p:cNvPr>
          <p:cNvSpPr/>
          <p:nvPr/>
        </p:nvSpPr>
        <p:spPr>
          <a:xfrm>
            <a:off x="7533994" y="3657310"/>
            <a:ext cx="2351313" cy="151707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76A6583-FFD1-4ACA-A087-916EC46E9BFD}" type="TxLink">
              <a:rPr lang="en-US" sz="2000" b="0" i="0" u="none" strike="noStrike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pPr algn="ctr"/>
              <a:t>65</a:t>
            </a:fld>
            <a:endParaRPr lang="en-US" sz="2000" b="0" i="0" u="none" strike="noStrike" dirty="0">
              <a:solidFill>
                <a:schemeClr val="bg2"/>
              </a:solidFill>
              <a:latin typeface="Berlin Sans FB Demi" panose="020E0802020502020306" pitchFamily="34" charset="0"/>
              <a:ea typeface="Calibri"/>
              <a:cs typeface="Calibri"/>
            </a:endParaRPr>
          </a:p>
          <a:p>
            <a:pPr algn="ctr"/>
            <a:r>
              <a:rPr lang="en-US" sz="2000" b="0" i="0" u="none" strike="noStrike" dirty="0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t>AVERAGE RESLOUTION TIME</a:t>
            </a:r>
            <a:endParaRPr lang="en-IN" sz="2000" dirty="0">
              <a:solidFill>
                <a:schemeClr val="bg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2180BA-74E9-4EEA-A1F1-8EBAA69D2A66}"/>
              </a:ext>
            </a:extLst>
          </p:cNvPr>
          <p:cNvSpPr/>
          <p:nvPr/>
        </p:nvSpPr>
        <p:spPr>
          <a:xfrm>
            <a:off x="4351765" y="3632568"/>
            <a:ext cx="2285999" cy="156655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03EB1C0-DA03-4F19-9121-DBF0A766B3DF}" type="TxLink">
              <a:rPr lang="en-US" sz="2000" b="0" i="0" u="none" strike="noStrike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pPr algn="ctr"/>
              <a:t>0.3445</a:t>
            </a:fld>
            <a:endParaRPr lang="en-US" sz="2000" b="0" i="0" u="none" strike="noStrike">
              <a:solidFill>
                <a:schemeClr val="bg2"/>
              </a:solidFill>
              <a:latin typeface="Berlin Sans FB Demi" panose="020E0802020502020306" pitchFamily="34" charset="0"/>
              <a:ea typeface="Calibri"/>
              <a:cs typeface="Calibri"/>
            </a:endParaRPr>
          </a:p>
          <a:p>
            <a:pPr algn="ctr"/>
            <a:r>
              <a:rPr lang="en-US" sz="2000" b="0" i="0" u="none" strike="noStrike">
                <a:solidFill>
                  <a:schemeClr val="bg2"/>
                </a:solidFill>
                <a:latin typeface="Berlin Sans FB Demi" panose="020E0802020502020306" pitchFamily="34" charset="0"/>
                <a:ea typeface="Calibri"/>
                <a:cs typeface="Calibri"/>
              </a:rPr>
              <a:t>CASES UNDER INVESTIGATIN</a:t>
            </a:r>
            <a:endParaRPr lang="en-IN" sz="2000">
              <a:solidFill>
                <a:schemeClr val="bg2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41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AD4191-4C46-927D-9E78-2BEB1A89D553}"/>
              </a:ext>
            </a:extLst>
          </p:cNvPr>
          <p:cNvSpPr txBox="1"/>
          <p:nvPr/>
        </p:nvSpPr>
        <p:spPr>
          <a:xfrm>
            <a:off x="1531971" y="422787"/>
            <a:ext cx="86757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Berlin Sans FB" panose="020E0602020502020306" pitchFamily="34" charset="0"/>
              </a:rPr>
              <a:t>Crime Patterns And Attack Methods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E946CEE-F731-40E9-A372-09650D2995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7588892"/>
              </p:ext>
            </p:extLst>
          </p:nvPr>
        </p:nvGraphicFramePr>
        <p:xfrm>
          <a:off x="154052" y="1439285"/>
          <a:ext cx="7986095" cy="52795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8DE63F6-9D84-6E17-EF03-6F259D2CD4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928824"/>
              </p:ext>
            </p:extLst>
          </p:nvPr>
        </p:nvGraphicFramePr>
        <p:xfrm>
          <a:off x="8278761" y="1439285"/>
          <a:ext cx="375918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76316A1-7C84-5DEC-BE58-FF0B225CC210}"/>
              </a:ext>
            </a:extLst>
          </p:cNvPr>
          <p:cNvSpPr txBox="1"/>
          <p:nvPr/>
        </p:nvSpPr>
        <p:spPr>
          <a:xfrm>
            <a:off x="7806813" y="4429542"/>
            <a:ext cx="4306529" cy="1754326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erlin Sans FB" panose="020E0602020502020306" pitchFamily="34" charset="0"/>
              </a:rPr>
              <a:t>Phishing and identity theft are among the most common cybercrime cases shown in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erlin Sans FB" panose="020E0602020502020306" pitchFamily="34" charset="0"/>
              </a:rPr>
              <a:t>Smartphones are the most commonly used devices, followed by laptops and desktop PCs.</a:t>
            </a:r>
          </a:p>
        </p:txBody>
      </p:sp>
    </p:spTree>
    <p:extLst>
      <p:ext uri="{BB962C8B-B14F-4D97-AF65-F5344CB8AC3E}">
        <p14:creationId xmlns:p14="http://schemas.microsoft.com/office/powerpoint/2010/main" val="177459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C5DCC1-6437-E92D-6A23-70B78F513B0E}"/>
              </a:ext>
            </a:extLst>
          </p:cNvPr>
          <p:cNvSpPr txBox="1"/>
          <p:nvPr/>
        </p:nvSpPr>
        <p:spPr>
          <a:xfrm>
            <a:off x="3637934" y="235973"/>
            <a:ext cx="5201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Berlin Sans FB" panose="020E0602020502020306" pitchFamily="34" charset="0"/>
              </a:rPr>
              <a:t>Trends Over Time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D8458C2-4120-43E2-A96C-7132055D82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0456475"/>
              </p:ext>
            </p:extLst>
          </p:nvPr>
        </p:nvGraphicFramePr>
        <p:xfrm>
          <a:off x="796413" y="1223238"/>
          <a:ext cx="9851922" cy="4125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762CF91-81B6-C0F6-F18F-B40DF3BBF4A5}"/>
              </a:ext>
            </a:extLst>
          </p:cNvPr>
          <p:cNvSpPr txBox="1"/>
          <p:nvPr/>
        </p:nvSpPr>
        <p:spPr>
          <a:xfrm>
            <a:off x="491612" y="5722374"/>
            <a:ext cx="11484077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erlin Sans FB" panose="020E0602020502020306" pitchFamily="34" charset="0"/>
              </a:rPr>
              <a:t>Cybercrime cases show an overall increasing trend from 2021 to 2024, rising from 2,956 to 3,059 cases.</a:t>
            </a:r>
          </a:p>
        </p:txBody>
      </p:sp>
    </p:spTree>
    <p:extLst>
      <p:ext uri="{BB962C8B-B14F-4D97-AF65-F5344CB8AC3E}">
        <p14:creationId xmlns:p14="http://schemas.microsoft.com/office/powerpoint/2010/main" val="130457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B8B6CE-42FB-6493-360D-F7F879506289}"/>
              </a:ext>
            </a:extLst>
          </p:cNvPr>
          <p:cNvSpPr txBox="1"/>
          <p:nvPr/>
        </p:nvSpPr>
        <p:spPr>
          <a:xfrm>
            <a:off x="4416948" y="314632"/>
            <a:ext cx="28664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latin typeface="Berlin Sans FB" panose="020E0602020502020306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8B00B-DCDB-7E77-31BB-F848EAA0E692}"/>
              </a:ext>
            </a:extLst>
          </p:cNvPr>
          <p:cNvSpPr txBox="1"/>
          <p:nvPr/>
        </p:nvSpPr>
        <p:spPr>
          <a:xfrm>
            <a:off x="1111044" y="2109019"/>
            <a:ext cx="89670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Berlin Sans FB" panose="020E0602020502020306" pitchFamily="34" charset="0"/>
              </a:rPr>
              <a:t>India and China lead in case volume; the 26–35 age group is most targeted.</a:t>
            </a:r>
          </a:p>
          <a:p>
            <a:endParaRPr lang="en-IN" sz="2400" dirty="0"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Berlin Sans FB" panose="020E0602020502020306" pitchFamily="34" charset="0"/>
              </a:rPr>
              <a:t>34.4% of cases remain unresolved — highlighting a regional investigation backlog.</a:t>
            </a:r>
          </a:p>
          <a:p>
            <a:endParaRPr lang="en-IN" sz="2400" dirty="0"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Berlin Sans FB" panose="020E0602020502020306" pitchFamily="34" charset="0"/>
              </a:rPr>
              <a:t>Financial fraud dominates, driven mainly by smartphone-based attacks.</a:t>
            </a:r>
          </a:p>
        </p:txBody>
      </p:sp>
    </p:spTree>
    <p:extLst>
      <p:ext uri="{BB962C8B-B14F-4D97-AF65-F5344CB8AC3E}">
        <p14:creationId xmlns:p14="http://schemas.microsoft.com/office/powerpoint/2010/main" val="111938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4F1B13-BFA5-6C91-7A30-F32F1A374ADE}"/>
              </a:ext>
            </a:extLst>
          </p:cNvPr>
          <p:cNvSpPr txBox="1"/>
          <p:nvPr/>
        </p:nvSpPr>
        <p:spPr>
          <a:xfrm>
            <a:off x="3197610" y="2074607"/>
            <a:ext cx="57967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dirty="0">
                <a:latin typeface="Berlin Sans FB" panose="020E0602020502020306" pitchFamily="34" charset="0"/>
              </a:rPr>
              <a:t>Thank You</a:t>
            </a:r>
          </a:p>
        </p:txBody>
      </p:sp>
      <p:pic>
        <p:nvPicPr>
          <p:cNvPr id="4" name="Graphic 3" descr="Happy face with no mouth">
            <a:extLst>
              <a:ext uri="{FF2B5EF4-FFF2-40B4-BE49-F238E27FC236}">
                <a16:creationId xmlns:a16="http://schemas.microsoft.com/office/drawing/2014/main" id="{C7C718E3-FE0D-2AAF-9C55-17DD9F5834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26543" y="4158892"/>
            <a:ext cx="796414" cy="71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80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183</Words>
  <Application>Microsoft Office PowerPoint</Application>
  <PresentationFormat>Widescreen</PresentationFormat>
  <Paragraphs>50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Berlin Sans FB</vt:lpstr>
      <vt:lpstr>Berlin Sans FB Demi</vt:lpstr>
      <vt:lpstr>Calibri</vt:lpstr>
      <vt:lpstr>Calibri Light</vt:lpstr>
      <vt:lpstr>Office Theme</vt:lpstr>
      <vt:lpstr>Threat Signals: Cybercrime Patterns Across Asia (2021-24)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Padumale - ISBM</dc:creator>
  <cp:lastModifiedBy>Aryan Padumale - ISBM</cp:lastModifiedBy>
  <cp:revision>2</cp:revision>
  <dcterms:created xsi:type="dcterms:W3CDTF">2026-09-21T10:12:33Z</dcterms:created>
  <dcterms:modified xsi:type="dcterms:W3CDTF">2026-09-21T11:42:37Z</dcterms:modified>
</cp:coreProperties>
</file>